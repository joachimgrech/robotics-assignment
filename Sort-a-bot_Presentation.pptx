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744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45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77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40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96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11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0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24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036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44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26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453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70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36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195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63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5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721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p14="http://schemas.microsoft.com/office/powerpoint/2010/main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36749" y="2235200"/>
            <a:ext cx="5270501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4422" y="2900097"/>
            <a:ext cx="8236545" cy="1211524"/>
            <a:chOff x="605895" y="2900097"/>
            <a:chExt cx="10982062" cy="1211524"/>
          </a:xfrm>
          <a:effectLst/>
        </p:grpSpPr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20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22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23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24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  <p:sp>
          <p:nvSpPr>
            <p:cNvPr id="34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M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00844" y="2676525"/>
            <a:ext cx="5143500" cy="1367896"/>
          </a:xfrm>
        </p:spPr>
        <p:txBody>
          <a:bodyPr>
            <a:normAutofit/>
          </a:bodyPr>
          <a:lstStyle/>
          <a:p>
            <a:pPr algn="ctr"/>
            <a:r>
              <a:rPr lang="en-GB" sz="6600" dirty="0">
                <a:solidFill>
                  <a:srgbClr val="FFFFFF"/>
                </a:solidFill>
              </a:rPr>
              <a:t>Sort-a-bot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9249" y="4786043"/>
            <a:ext cx="6565503" cy="1402322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GB" sz="1800" dirty="0">
                <a:solidFill>
                  <a:schemeClr val="tx1"/>
                </a:solidFill>
              </a:rPr>
              <a:t>ARI3215: Robotics Project</a:t>
            </a:r>
          </a:p>
          <a:p>
            <a:pPr algn="ctr">
              <a:lnSpc>
                <a:spcPct val="110000"/>
              </a:lnSpc>
            </a:pPr>
            <a:r>
              <a:rPr lang="en-GB" sz="1800" dirty="0">
                <a:solidFill>
                  <a:schemeClr val="tx1"/>
                </a:solidFill>
              </a:rPr>
              <a:t>Ellyn Rose </a:t>
            </a:r>
            <a:r>
              <a:rPr lang="en-GB" sz="1800" dirty="0" err="1">
                <a:solidFill>
                  <a:schemeClr val="tx1"/>
                </a:solidFill>
              </a:rPr>
              <a:t>Debrincat</a:t>
            </a:r>
            <a:r>
              <a:rPr lang="en-GB" sz="1800" dirty="0">
                <a:solidFill>
                  <a:schemeClr val="tx1"/>
                </a:solidFill>
              </a:rPr>
              <a:t>, Joachim Grech, Benjamin Zammit</a:t>
            </a:r>
          </a:p>
          <a:p>
            <a:pPr algn="ctr">
              <a:lnSpc>
                <a:spcPct val="110000"/>
              </a:lnSpc>
            </a:pPr>
            <a:r>
              <a:rPr lang="en-GB" sz="1800" dirty="0">
                <a:solidFill>
                  <a:schemeClr val="tx1"/>
                </a:solidFill>
              </a:rPr>
              <a:t>University of Malta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B448F0-DA06-4165-AB5F-4330A20E0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2D83638-A467-411A-9C31-FE9A111CD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576BCDF-119F-4EB5-83D7-ED823C93E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5604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43D63E8F-FD8A-4CE3-B7C9-3E9E2B66B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107D890-1831-46D8-90FB-F2FC0B288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2440904-A4EC-4F72-8E22-AAF4D9DB5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625E9C1F-1569-416B-A85C-FA1434872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A186C77-43BF-4B1B-8170-48944F30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A8D72C1-8526-44B4-9333-5E0057EC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90E4BA0-9C47-48B6-AA4A-8FC22DA95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D051475-431F-4B9D-94C6-7B49A6958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2255D2F-85A1-4A19-8BC4-EB2715F36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EBC3A004-9794-4EFA-83F0-989248797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6EFD9FC3-E11A-44E3-BCAC-A07F3C601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AB6AB6F7-6592-4028-B349-1C0E53A29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MT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6C2415E6-F914-4C11-B48B-4910AA6CA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412013C-072A-489E-851A-CFEF91A9A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E93DF9F-296F-4DE4-8813-D8C04DE4C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F440D966-5030-460C-9916-BF9B91542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1EFE245D-BA05-4F4D-A6E8-40739F48E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ED67811C-F735-441C-98A6-2517EC09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3070FC44-32F9-470F-A131-868F3F1DB7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95FB52C7-C779-4E3F-978C-4595FEF86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D4EB1759-62AC-4B24-9DC6-E4F8737E8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7BF6FB39-864B-4F58-86E8-790E16FB3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5FE4FA46-B51C-43DA-87FC-2644ED117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25DD1322-2D3A-4E7B-B23B-B4F96E02C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6E4FFBEB-52BB-494D-AD99-A0F072AB6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7DE92406-3F65-4333-BAAA-A9A7B5AEE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B8B0FFC4-D1BB-4BB9-A224-BB78BFD3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748240"/>
            <a:ext cx="7429500" cy="1117073"/>
          </a:xfrm>
        </p:spPr>
        <p:txBody>
          <a:bodyPr>
            <a:normAutofit/>
          </a:bodyPr>
          <a:lstStyle/>
          <a:p>
            <a:pPr algn="ctr"/>
            <a:r>
              <a:rPr lang="en-GB" sz="3500"/>
              <a:t>Project 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5" y="2249487"/>
            <a:ext cx="7380683" cy="3541714"/>
          </a:xfrm>
        </p:spPr>
        <p:txBody>
          <a:bodyPr anchor="t">
            <a:normAutofit/>
          </a:bodyPr>
          <a:lstStyle/>
          <a:p>
            <a:r>
              <a:rPr dirty="0"/>
              <a:t>Core Objectives:</a:t>
            </a:r>
          </a:p>
          <a:p>
            <a:pPr marL="457200" lvl="1" indent="0">
              <a:buNone/>
            </a:pPr>
            <a:r>
              <a:rPr dirty="0"/>
              <a:t>Build a wheel-based robot with dual arms, weight sensors, and RGB camera</a:t>
            </a:r>
          </a:p>
          <a:p>
            <a:pPr marL="457200" lvl="1" indent="0">
              <a:buNone/>
            </a:pPr>
            <a:r>
              <a:rPr dirty="0"/>
              <a:t>Navigate procedurally generated arenas using LIDAR</a:t>
            </a:r>
          </a:p>
          <a:p>
            <a:pPr marL="457200" lvl="1" indent="0">
              <a:buNone/>
            </a:pPr>
            <a:r>
              <a:rPr dirty="0"/>
              <a:t>Identify and sort colored objects (1-3 per type) into marked bins</a:t>
            </a:r>
          </a:p>
          <a:p>
            <a:pPr marL="457200" lvl="1" indent="0">
              <a:buNone/>
            </a:pPr>
            <a:r>
              <a:rPr dirty="0"/>
              <a:t>Implement smart lifting behavior based on object weight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B4BB99-C854-45F9-BED1-63D15E3A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5D1CCC4C-284C-4BF6-97D9-D97467463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35D82D1B-EB09-4028-9107-D60B547C7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1389EE93-8059-437E-8507-7557AD68F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377C05DC-75FF-4426-A34F-DBF0C7E7B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03D385C8-866D-437D-91B1-2E3ECDD88E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3F649CBB-748F-4C79-A14F-C531C40B0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7F4622C0-84AF-41F1-9128-FE73CADD3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CC6F29C1-A471-4CDE-8C21-E4B15C5EF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67F5B7DA-86C7-4AE0-96B6-D7F5AA51E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0FA481E3-0439-484A-AC9B-19D58B98E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B448F0-DA06-4165-AB5F-4330A20E0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2D83638-A467-411A-9C31-FE9A111CD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576BCDF-119F-4EB5-83D7-ED823C93E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5604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43D63E8F-FD8A-4CE3-B7C9-3E9E2B66B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107D890-1831-46D8-90FB-F2FC0B288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2440904-A4EC-4F72-8E22-AAF4D9DB5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625E9C1F-1569-416B-A85C-FA1434872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A186C77-43BF-4B1B-8170-48944F30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A8D72C1-8526-44B4-9333-5E0057EC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90E4BA0-9C47-48B6-AA4A-8FC22DA95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D051475-431F-4B9D-94C6-7B49A6958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2255D2F-85A1-4A19-8BC4-EB2715F36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EBC3A004-9794-4EFA-83F0-989248797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6EFD9FC3-E11A-44E3-BCAC-A07F3C601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AB6AB6F7-6592-4028-B349-1C0E53A29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MT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6C2415E6-F914-4C11-B48B-4910AA6CA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412013C-072A-489E-851A-CFEF91A9A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E93DF9F-296F-4DE4-8813-D8C04DE4C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F440D966-5030-460C-9916-BF9B91542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1EFE245D-BA05-4F4D-A6E8-40739F48E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ED67811C-F735-441C-98A6-2517EC09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3070FC44-32F9-470F-A131-868F3F1DB7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95FB52C7-C779-4E3F-978C-4595FEF86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D4EB1759-62AC-4B24-9DC6-E4F8737E8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7BF6FB39-864B-4F58-86E8-790E16FB3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5FE4FA46-B51C-43DA-87FC-2644ED117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25DD1322-2D3A-4E7B-B23B-B4F96E02C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6E4FFBEB-52BB-494D-AD99-A0F072AB6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7DE92406-3F65-4333-BAAA-A9A7B5AEE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B8B0FFC4-D1BB-4BB9-A224-BB78BFD3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748240"/>
            <a:ext cx="7429500" cy="1117073"/>
          </a:xfrm>
        </p:spPr>
        <p:txBody>
          <a:bodyPr>
            <a:normAutofit/>
          </a:bodyPr>
          <a:lstStyle/>
          <a:p>
            <a:pPr algn="ctr"/>
            <a:r>
              <a:rPr lang="en-GB" sz="3500"/>
              <a:t>Simulation Environment &amp; Track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5" y="2249487"/>
            <a:ext cx="7380683" cy="3541714"/>
          </a:xfrm>
        </p:spPr>
        <p:txBody>
          <a:bodyPr anchor="t">
            <a:normAutofit/>
          </a:bodyPr>
          <a:lstStyle/>
          <a:p>
            <a:r>
              <a:rPr dirty="0"/>
              <a:t>Gazebo Simulation Features:</a:t>
            </a:r>
          </a:p>
          <a:p>
            <a:pPr marL="457200" lvl="1" indent="0">
              <a:buNone/>
            </a:pPr>
            <a:r>
              <a:rPr dirty="0"/>
              <a:t>Arena: obstacles defining a complex track</a:t>
            </a:r>
          </a:p>
          <a:p>
            <a:pPr marL="457200" lvl="1" indent="0">
              <a:buNone/>
            </a:pPr>
            <a:r>
              <a:rPr dirty="0"/>
              <a:t>Procedural Layout: Randomized object/bin placement and weight</a:t>
            </a:r>
          </a:p>
          <a:p>
            <a:pPr marL="457200" lvl="1" indent="0">
              <a:buNone/>
            </a:pPr>
            <a:r>
              <a:rPr dirty="0"/>
              <a:t>Infrastructure: Bins with estimators and wireless transmitters</a:t>
            </a:r>
          </a:p>
          <a:p>
            <a:pPr marL="457200" lvl="1" indent="0">
              <a:buNone/>
            </a:pPr>
            <a:r>
              <a:rPr dirty="0"/>
              <a:t>Feedback: RGB cameras and transmitters for task monitoring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B4BB99-C854-45F9-BED1-63D15E3A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5D1CCC4C-284C-4BF6-97D9-D97467463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35D82D1B-EB09-4028-9107-D60B547C7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1389EE93-8059-437E-8507-7557AD68F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377C05DC-75FF-4426-A34F-DBF0C7E7B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03D385C8-866D-437D-91B1-2E3ECDD88E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3F649CBB-748F-4C79-A14F-C531C40B0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7F4622C0-84AF-41F1-9128-FE73CADD3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CC6F29C1-A471-4CDE-8C21-E4B15C5EF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67F5B7DA-86C7-4AE0-96B6-D7F5AA51E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0FA481E3-0439-484A-AC9B-19D58B98E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B448F0-DA06-4165-AB5F-4330A20E0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2D83638-A467-411A-9C31-FE9A111CD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576BCDF-119F-4EB5-83D7-ED823C93E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5604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43D63E8F-FD8A-4CE3-B7C9-3E9E2B66B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107D890-1831-46D8-90FB-F2FC0B288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2440904-A4EC-4F72-8E22-AAF4D9DB5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625E9C1F-1569-416B-A85C-FA1434872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A186C77-43BF-4B1B-8170-48944F30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A8D72C1-8526-44B4-9333-5E0057EC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90E4BA0-9C47-48B6-AA4A-8FC22DA95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D051475-431F-4B9D-94C6-7B49A6958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2255D2F-85A1-4A19-8BC4-EB2715F36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EBC3A004-9794-4EFA-83F0-989248797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6EFD9FC3-E11A-44E3-BCAC-A07F3C601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AB6AB6F7-6592-4028-B349-1C0E53A29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MT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6C2415E6-F914-4C11-B48B-4910AA6CA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412013C-072A-489E-851A-CFEF91A9A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E93DF9F-296F-4DE4-8813-D8C04DE4C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F440D966-5030-460C-9916-BF9B91542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1EFE245D-BA05-4F4D-A6E8-40739F48E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ED67811C-F735-441C-98A6-2517EC09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3070FC44-32F9-470F-A131-868F3F1DB7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95FB52C7-C779-4E3F-978C-4595FEF86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D4EB1759-62AC-4B24-9DC6-E4F8737E8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7BF6FB39-864B-4F58-86E8-790E16FB3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5FE4FA46-B51C-43DA-87FC-2644ED117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25DD1322-2D3A-4E7B-B23B-B4F96E02C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6E4FFBEB-52BB-494D-AD99-A0F072AB6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7DE92406-3F65-4333-BAAA-A9A7B5AEE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B8B0FFC4-D1BB-4BB9-A224-BB78BFD3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748240"/>
            <a:ext cx="7429500" cy="1117073"/>
          </a:xfrm>
        </p:spPr>
        <p:txBody>
          <a:bodyPr>
            <a:normAutofit/>
          </a:bodyPr>
          <a:lstStyle/>
          <a:p>
            <a:pPr algn="ctr"/>
            <a:r>
              <a:rPr lang="en-GB" sz="3500"/>
              <a:t>Robot Design and Physics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5" y="2249487"/>
            <a:ext cx="7380683" cy="3541714"/>
          </a:xfrm>
        </p:spPr>
        <p:txBody>
          <a:bodyPr anchor="t">
            <a:normAutofit/>
          </a:bodyPr>
          <a:lstStyle/>
          <a:p>
            <a:r>
              <a:rPr dirty="0"/>
              <a:t>System Stability:</a:t>
            </a:r>
          </a:p>
          <a:p>
            <a:pPr marL="457200" lvl="1" indent="0">
              <a:buNone/>
            </a:pPr>
            <a:r>
              <a:rPr dirty="0"/>
              <a:t>Chassis mass set to 5.0kg for stable movement</a:t>
            </a:r>
          </a:p>
          <a:p>
            <a:pPr marL="457200" lvl="1" indent="0">
              <a:buNone/>
            </a:pPr>
            <a:r>
              <a:rPr dirty="0"/>
              <a:t>Lowered center of mass to prevent pitching and tipping</a:t>
            </a:r>
          </a:p>
          <a:p>
            <a:pPr marL="457200" lvl="1" indent="0">
              <a:buNone/>
            </a:pPr>
            <a:r>
              <a:rPr dirty="0"/>
              <a:t>Locomotion: Precise wheel-based differential drive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B4BB99-C854-45F9-BED1-63D15E3A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5D1CCC4C-284C-4BF6-97D9-D97467463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35D82D1B-EB09-4028-9107-D60B547C7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1389EE93-8059-437E-8507-7557AD68F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377C05DC-75FF-4426-A34F-DBF0C7E7B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03D385C8-866D-437D-91B1-2E3ECDD88E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3F649CBB-748F-4C79-A14F-C531C40B0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7F4622C0-84AF-41F1-9128-FE73CADD3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CC6F29C1-A471-4CDE-8C21-E4B15C5EF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67F5B7DA-86C7-4AE0-96B6-D7F5AA51E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0FA481E3-0439-484A-AC9B-19D58B98E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B448F0-DA06-4165-AB5F-4330A20E0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2D83638-A467-411A-9C31-FE9A111CD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576BCDF-119F-4EB5-83D7-ED823C93E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5604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43D63E8F-FD8A-4CE3-B7C9-3E9E2B66B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107D890-1831-46D8-90FB-F2FC0B288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2440904-A4EC-4F72-8E22-AAF4D9DB5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625E9C1F-1569-416B-A85C-FA1434872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A186C77-43BF-4B1B-8170-48944F30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A8D72C1-8526-44B4-9333-5E0057EC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90E4BA0-9C47-48B6-AA4A-8FC22DA95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D051475-431F-4B9D-94C6-7B49A6958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2255D2F-85A1-4A19-8BC4-EB2715F36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EBC3A004-9794-4EFA-83F0-989248797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6EFD9FC3-E11A-44E3-BCAC-A07F3C601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AB6AB6F7-6592-4028-B349-1C0E53A29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MT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6C2415E6-F914-4C11-B48B-4910AA6CA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412013C-072A-489E-851A-CFEF91A9A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E93DF9F-296F-4DE4-8813-D8C04DE4C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F440D966-5030-460C-9916-BF9B91542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1EFE245D-BA05-4F4D-A6E8-40739F48E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ED67811C-F735-441C-98A6-2517EC09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3070FC44-32F9-470F-A131-868F3F1DB7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95FB52C7-C779-4E3F-978C-4595FEF86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D4EB1759-62AC-4B24-9DC6-E4F8737E8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7BF6FB39-864B-4F58-86E8-790E16FB3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5FE4FA46-B51C-43DA-87FC-2644ED117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25DD1322-2D3A-4E7B-B23B-B4F96E02C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6E4FFBEB-52BB-494D-AD99-A0F072AB6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7DE92406-3F65-4333-BAAA-A9A7B5AEE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B8B0FFC4-D1BB-4BB9-A224-BB78BFD3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748240"/>
            <a:ext cx="7429500" cy="1117073"/>
          </a:xfrm>
        </p:spPr>
        <p:txBody>
          <a:bodyPr>
            <a:normAutofit/>
          </a:bodyPr>
          <a:lstStyle/>
          <a:p>
            <a:pPr algn="ctr"/>
            <a:r>
              <a:rPr lang="en-GB" sz="3500"/>
              <a:t>2. Control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5" y="2249487"/>
            <a:ext cx="7380683" cy="3541714"/>
          </a:xfrm>
        </p:spPr>
        <p:txBody>
          <a:bodyPr anchor="t">
            <a:normAutofit/>
          </a:bodyPr>
          <a:lstStyle/>
          <a:p>
            <a:r>
              <a:rPr dirty="0"/>
              <a:t>Movement Precision:</a:t>
            </a:r>
          </a:p>
          <a:p>
            <a:pPr marL="457200" lvl="1" indent="0">
              <a:buNone/>
            </a:pPr>
            <a:r>
              <a:rPr dirty="0"/>
              <a:t>PID control for heading and distance tracking</a:t>
            </a:r>
          </a:p>
          <a:p>
            <a:pPr marL="457200" lvl="1" indent="0">
              <a:buNone/>
            </a:pPr>
            <a:r>
              <a:rPr dirty="0"/>
              <a:t>Rotate-then-Drive logic to minimize positional drift</a:t>
            </a:r>
          </a:p>
          <a:p>
            <a:pPr marL="457200" lvl="1" indent="0">
              <a:buNone/>
            </a:pPr>
            <a:r>
              <a:rPr dirty="0"/>
              <a:t>Adapting movement based on heavy-object transport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B4BB99-C854-45F9-BED1-63D15E3A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5D1CCC4C-284C-4BF6-97D9-D97467463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35D82D1B-EB09-4028-9107-D60B547C7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1389EE93-8059-437E-8507-7557AD68F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377C05DC-75FF-4426-A34F-DBF0C7E7B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03D385C8-866D-437D-91B1-2E3ECDD88E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3F649CBB-748F-4C79-A14F-C531C40B0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7F4622C0-84AF-41F1-9128-FE73CADD3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CC6F29C1-A471-4CDE-8C21-E4B15C5EF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67F5B7DA-86C7-4AE0-96B6-D7F5AA51E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0FA481E3-0439-484A-AC9B-19D58B98E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B448F0-DA06-4165-AB5F-4330A20E0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2D83638-A467-411A-9C31-FE9A111CD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576BCDF-119F-4EB5-83D7-ED823C93E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5604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43D63E8F-FD8A-4CE3-B7C9-3E9E2B66B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107D890-1831-46D8-90FB-F2FC0B288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2440904-A4EC-4F72-8E22-AAF4D9DB5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625E9C1F-1569-416B-A85C-FA1434872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A186C77-43BF-4B1B-8170-48944F30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A8D72C1-8526-44B4-9333-5E0057EC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90E4BA0-9C47-48B6-AA4A-8FC22DA95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D051475-431F-4B9D-94C6-7B49A6958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2255D2F-85A1-4A19-8BC4-EB2715F36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EBC3A004-9794-4EFA-83F0-989248797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6EFD9FC3-E11A-44E3-BCAC-A07F3C601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AB6AB6F7-6592-4028-B349-1C0E53A29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MT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6C2415E6-F914-4C11-B48B-4910AA6CA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412013C-072A-489E-851A-CFEF91A9A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E93DF9F-296F-4DE4-8813-D8C04DE4C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F440D966-5030-460C-9916-BF9B91542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1EFE245D-BA05-4F4D-A6E8-40739F48E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ED67811C-F735-441C-98A6-2517EC09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3070FC44-32F9-470F-A131-868F3F1DB7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95FB52C7-C779-4E3F-978C-4595FEF86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D4EB1759-62AC-4B24-9DC6-E4F8737E8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7BF6FB39-864B-4F58-86E8-790E16FB3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5FE4FA46-B51C-43DA-87FC-2644ED117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25DD1322-2D3A-4E7B-B23B-B4F96E02C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6E4FFBEB-52BB-494D-AD99-A0F072AB6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7DE92406-3F65-4333-BAAA-A9A7B5AEE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B8B0FFC4-D1BB-4BB9-A224-BB78BFD3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748240"/>
            <a:ext cx="7429500" cy="1117073"/>
          </a:xfrm>
        </p:spPr>
        <p:txBody>
          <a:bodyPr>
            <a:normAutofit/>
          </a:bodyPr>
          <a:lstStyle/>
          <a:p>
            <a:pPr algn="ctr"/>
            <a:r>
              <a:rPr lang="en-GB" sz="3500"/>
              <a:t>3. Navigation &amp; Pathfinding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5" y="2249487"/>
            <a:ext cx="7380683" cy="3541714"/>
          </a:xfrm>
        </p:spPr>
        <p:txBody>
          <a:bodyPr anchor="t">
            <a:normAutofit/>
          </a:bodyPr>
          <a:lstStyle/>
          <a:p>
            <a:r>
              <a:rPr dirty="0"/>
              <a:t>Autonomous Intelligence:</a:t>
            </a:r>
          </a:p>
          <a:p>
            <a:pPr marL="457200" lvl="1" indent="0">
              <a:buNone/>
            </a:pPr>
            <a:r>
              <a:rPr dirty="0"/>
              <a:t>A* Search: Mapping and routing through LIDAR occupancy grids</a:t>
            </a:r>
          </a:p>
          <a:p>
            <a:pPr marL="457200" lvl="1" indent="0">
              <a:buNone/>
            </a:pPr>
            <a:r>
              <a:rPr dirty="0"/>
              <a:t>Reinforcement Learning: Identifying the best path via PPO</a:t>
            </a:r>
          </a:p>
          <a:p>
            <a:pPr marL="457200" lvl="1" indent="0">
              <a:buNone/>
            </a:pPr>
            <a:r>
              <a:rPr dirty="0"/>
              <a:t>Dynamic obstacle avoidance in procedurally generated arenas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B4BB99-C854-45F9-BED1-63D15E3A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5D1CCC4C-284C-4BF6-97D9-D97467463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35D82D1B-EB09-4028-9107-D60B547C7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1389EE93-8059-437E-8507-7557AD68F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377C05DC-75FF-4426-A34F-DBF0C7E7B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03D385C8-866D-437D-91B1-2E3ECDD88E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3F649CBB-748F-4C79-A14F-C531C40B0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7F4622C0-84AF-41F1-9128-FE73CADD3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CC6F29C1-A471-4CDE-8C21-E4B15C5EF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67F5B7DA-86C7-4AE0-96B6-D7F5AA51E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0FA481E3-0439-484A-AC9B-19D58B98E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B448F0-DA06-4165-AB5F-4330A20E0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2D83638-A467-411A-9C31-FE9A111CD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576BCDF-119F-4EB5-83D7-ED823C93E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5604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43D63E8F-FD8A-4CE3-B7C9-3E9E2B66B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107D890-1831-46D8-90FB-F2FC0B288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2440904-A4EC-4F72-8E22-AAF4D9DB5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625E9C1F-1569-416B-A85C-FA1434872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A186C77-43BF-4B1B-8170-48944F30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A8D72C1-8526-44B4-9333-5E0057EC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90E4BA0-9C47-48B6-AA4A-8FC22DA95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D051475-431F-4B9D-94C6-7B49A6958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2255D2F-85A1-4A19-8BC4-EB2715F36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EBC3A004-9794-4EFA-83F0-989248797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6EFD9FC3-E11A-44E3-BCAC-A07F3C601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AB6AB6F7-6592-4028-B349-1C0E53A29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MT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6C2415E6-F914-4C11-B48B-4910AA6CA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412013C-072A-489E-851A-CFEF91A9A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E93DF9F-296F-4DE4-8813-D8C04DE4C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F440D966-5030-460C-9916-BF9B91542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1EFE245D-BA05-4F4D-A6E8-40739F48E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ED67811C-F735-441C-98A6-2517EC09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3070FC44-32F9-470F-A131-868F3F1DB7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95FB52C7-C779-4E3F-978C-4595FEF86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D4EB1759-62AC-4B24-9DC6-E4F8737E8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7BF6FB39-864B-4F58-86E8-790E16FB3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5FE4FA46-B51C-43DA-87FC-2644ED117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25DD1322-2D3A-4E7B-B23B-B4F96E02C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6E4FFBEB-52BB-494D-AD99-A0F072AB6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7DE92406-3F65-4333-BAAA-A9A7B5AEE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B8B0FFC4-D1BB-4BB9-A224-BB78BFD3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748240"/>
            <a:ext cx="7429500" cy="1117073"/>
          </a:xfrm>
        </p:spPr>
        <p:txBody>
          <a:bodyPr>
            <a:normAutofit/>
          </a:bodyPr>
          <a:lstStyle/>
          <a:p>
            <a:pPr algn="ctr"/>
            <a:r>
              <a:rPr lang="en-GB" sz="3500"/>
              <a:t>Results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5" y="2249487"/>
            <a:ext cx="7380683" cy="3541714"/>
          </a:xfrm>
        </p:spPr>
        <p:txBody>
          <a:bodyPr anchor="t">
            <a:normAutofit/>
          </a:bodyPr>
          <a:lstStyle/>
          <a:p>
            <a:r>
              <a:rPr dirty="0"/>
              <a:t>Project Outcomes:</a:t>
            </a:r>
          </a:p>
          <a:p>
            <a:pPr marL="457200" lvl="1" indent="0">
              <a:buNone/>
            </a:pPr>
            <a:r>
              <a:rPr dirty="0"/>
              <a:t>Successful mission completion in the Gazebo arena</a:t>
            </a:r>
          </a:p>
          <a:p>
            <a:pPr marL="457200" lvl="1" indent="0">
              <a:buNone/>
            </a:pPr>
            <a:r>
              <a:rPr dirty="0"/>
              <a:t>Verified physical stability and sensor reliability</a:t>
            </a:r>
          </a:p>
          <a:p>
            <a:pPr marL="457200" lvl="1" indent="0">
              <a:buNone/>
            </a:pPr>
            <a:r>
              <a:rPr dirty="0"/>
              <a:t>Fulfilled all objectives from the original project proposal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B4BB99-C854-45F9-BED1-63D15E3A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5D1CCC4C-284C-4BF6-97D9-D97467463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35D82D1B-EB09-4028-9107-D60B547C7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1389EE93-8059-437E-8507-7557AD68F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377C05DC-75FF-4426-A34F-DBF0C7E7B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03D385C8-866D-437D-91B1-2E3ECDD88E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3F649CBB-748F-4C79-A14F-C531C40B0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7F4622C0-84AF-41F1-9128-FE73CADD3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CC6F29C1-A471-4CDE-8C21-E4B15C5EF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67F5B7DA-86C7-4AE0-96B6-D7F5AA51E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0FA481E3-0439-484A-AC9B-19D58B98E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T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0</TotalTime>
  <Words>223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Tw Cen MT</vt:lpstr>
      <vt:lpstr>Circuit</vt:lpstr>
      <vt:lpstr>Sort-a-bot</vt:lpstr>
      <vt:lpstr>Project Aims</vt:lpstr>
      <vt:lpstr>Simulation Environment &amp; Track</vt:lpstr>
      <vt:lpstr>Robot Design and Physics</vt:lpstr>
      <vt:lpstr>2. Control Strategy</vt:lpstr>
      <vt:lpstr>3. Navigation &amp; Pathfinding</vt:lpstr>
      <vt:lpstr>Results and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Joachim Grech</cp:lastModifiedBy>
  <cp:revision>2</cp:revision>
  <dcterms:created xsi:type="dcterms:W3CDTF">2013-01-27T09:14:16Z</dcterms:created>
  <dcterms:modified xsi:type="dcterms:W3CDTF">2026-02-04T22:54:02Z</dcterms:modified>
  <cp:category/>
</cp:coreProperties>
</file>